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EDA of Mall Customers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CA1: Data Mining (PEC-AIML601B)</a:t>
            </a:r>
          </a:p>
          <a:p>
            <a:r>
              <a:t>Descriptive Statistics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r>
              <a:t>- Understand dataset structure (Mall Customers)</a:t>
            </a:r>
          </a:p>
          <a:p>
            <a:r>
              <a:t>- Apply descriptive statistics (Central Tendency, Dispersion)</a:t>
            </a:r>
          </a:p>
          <a:p>
            <a:r>
              <a:t>- Analyze distributions and outliers</a:t>
            </a:r>
          </a:p>
          <a:p>
            <a:r>
              <a:t>- Visualize relationships</a:t>
            </a:r>
          </a:p>
          <a:p>
            <a:r>
              <a:t>- Derive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Overview:</a:t>
            </a:r>
          </a:p>
          <a:p>
            <a:r>
              <a:t>- Records: 200</a:t>
            </a:r>
          </a:p>
          <a:p>
            <a:r>
              <a:t>- Attributes: 5 (ID, Gender, Age, Income, Spending Score)</a:t>
            </a:r>
          </a:p>
          <a:p>
            <a:r>
              <a:t>- Missing Values: 0</a:t>
            </a:r>
          </a:p>
          <a:p/>
          <a:p>
            <a:r>
              <a:t>Data Types:</a:t>
            </a:r>
          </a:p>
          <a:p>
            <a:r>
              <a:t>- CustomerID: Integer</a:t>
            </a:r>
          </a:p>
          <a:p>
            <a:r>
              <a:t>- Gender: Categorical (Male/Female)</a:t>
            </a:r>
          </a:p>
          <a:p>
            <a:r>
              <a:t>- Others: Numerical (Integer)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Central Tendency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Age:</a:t>
            </a:r>
          </a:p>
          <a:p>
            <a:r>
              <a:t>- Mean: 38.85</a:t>
            </a:r>
          </a:p>
          <a:p>
            <a:r>
              <a:t>- Median: 36.00</a:t>
            </a:r>
          </a:p>
          <a:p>
            <a:r>
              <a:t>- Mode: 32 (Young Adults)</a:t>
            </a:r>
          </a:p>
          <a:p/>
          <a:p>
            <a:r>
              <a:t>Annual Income (k$):</a:t>
            </a:r>
          </a:p>
          <a:p>
            <a:r>
              <a:t>- Mean: 60.56</a:t>
            </a:r>
          </a:p>
          <a:p>
            <a:r>
              <a:t>- Median: 61.50 (Middle Class)</a:t>
            </a:r>
          </a:p>
          <a:p/>
          <a:p>
            <a:r>
              <a:t>Spending Score:</a:t>
            </a:r>
          </a:p>
          <a:p>
            <a:r>
              <a:t>- Mean: 50.20</a:t>
            </a:r>
          </a:p>
          <a:p>
            <a:r>
              <a:t>- Median: 50.00 (Balanced)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Measures of 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Age:</a:t>
            </a:r>
          </a:p>
          <a:p>
            <a:r>
              <a:t>- Range: 52, Std Dev: 13.97</a:t>
            </a:r>
          </a:p>
          <a:p/>
          <a:p>
            <a:r>
              <a:t>Income:</a:t>
            </a:r>
          </a:p>
          <a:p>
            <a:r>
              <a:t>- Range: 122, Std Dev: 26.26 (High Variance)</a:t>
            </a:r>
          </a:p>
          <a:p/>
          <a:p>
            <a:r>
              <a:t>Spending Score:</a:t>
            </a:r>
          </a:p>
          <a:p>
            <a:r>
              <a:t>- Range: 98, Std Dev: 25.82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&amp;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Skewness Check:</a:t>
            </a:r>
          </a:p>
          <a:p>
            <a:r>
              <a:t>- Age: 0.48 (Symmetric)</a:t>
            </a:r>
          </a:p>
          <a:p>
            <a:r>
              <a:t>- Income: 0.32 (Symmetric)</a:t>
            </a:r>
          </a:p>
          <a:p>
            <a:r>
              <a:t>- Score: -0.05 (Symmetric)</a:t>
            </a:r>
          </a:p>
          <a:p/>
          <a:p>
            <a:r>
              <a:t>Outliers:</a:t>
            </a:r>
          </a:p>
          <a:p>
            <a:r>
              <a:t>- Annual Income has 2 potential outliers (&gt; 130k).</a:t>
            </a:r>
          </a:p>
          <a:p>
            <a:r>
              <a:t>- Others have no significant outliers.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Distribution</a:t>
            </a:r>
          </a:p>
        </p:txBody>
      </p:sp>
      <p:pic>
        <p:nvPicPr>
          <p:cNvPr id="3" name="Picture 2" descr="gende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93776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Females: 56%</a:t>
            </a:r>
          </a:p>
          <a:p>
            <a:r>
              <a:t>Males: 44%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Distributions (Histograms)</a:t>
            </a:r>
          </a:p>
        </p:txBody>
      </p:sp>
      <p:pic>
        <p:nvPicPr>
          <p:cNvPr id="3" name="Picture 2" descr="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 (Box Plots)</a:t>
            </a:r>
          </a:p>
        </p:txBody>
      </p:sp>
      <p:pic>
        <p:nvPicPr>
          <p:cNvPr id="3" name="Picture 2" descr="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Income vs Spending Score</a:t>
            </a:r>
          </a:p>
        </p:txBody>
      </p:sp>
      <p:pic>
        <p:nvPicPr>
          <p:cNvPr id="3" name="Picture 2" descr="scatter_income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Target High Spenders: Distinct groups for High Income and Low Income high spenders.</a:t>
            </a:r>
          </a:p>
          <a:p>
            <a:r>
              <a:t>2. Female Focus: 56% majority implies potential for female-centric campaigns.</a:t>
            </a:r>
          </a:p>
          <a:p>
            <a:r>
              <a:t>3. Prime Age: Target young to middle-aged adults (30-40).</a:t>
            </a:r>
          </a:p>
          <a:p>
            <a:r>
              <a:t>4. Retention: Sustain the large 'Average Income, Average Spend' group.</a:t>
            </a:r>
          </a:p>
          <a:p>
            <a:r>
              <a:t>5. Luxury: Exclusive offers for the high-income outliers.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